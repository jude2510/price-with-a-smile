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8"/>
  </p:handoutMasterIdLst>
  <p:sldIdLst>
    <p:sldId id="375" r:id="rId2"/>
    <p:sldId id="407" r:id="rId3"/>
    <p:sldId id="408" r:id="rId4"/>
    <p:sldId id="409" r:id="rId5"/>
    <p:sldId id="410" r:id="rId6"/>
    <p:sldId id="415" r:id="rId7"/>
    <p:sldId id="411" r:id="rId8"/>
    <p:sldId id="412" r:id="rId9"/>
    <p:sldId id="413" r:id="rId10"/>
    <p:sldId id="416" r:id="rId11"/>
    <p:sldId id="417" r:id="rId12"/>
    <p:sldId id="418" r:id="rId13"/>
    <p:sldId id="420" r:id="rId14"/>
    <p:sldId id="414" r:id="rId15"/>
    <p:sldId id="419" r:id="rId16"/>
    <p:sldId id="42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8" autoAdjust="0"/>
    <p:restoredTop sz="94942" autoAdjust="0"/>
  </p:normalViewPr>
  <p:slideViewPr>
    <p:cSldViewPr snapToGrid="0" snapToObjects="1">
      <p:cViewPr>
        <p:scale>
          <a:sx n="96" d="100"/>
          <a:sy n="96" d="100"/>
        </p:scale>
        <p:origin x="472" y="552"/>
      </p:cViewPr>
      <p:guideLst/>
    </p:cSldViewPr>
  </p:slideViewPr>
  <p:outlineViewPr>
    <p:cViewPr>
      <p:scale>
        <a:sx n="33" d="100"/>
        <a:sy n="33" d="100"/>
      </p:scale>
      <p:origin x="0" y="-44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7" d="100"/>
          <a:sy n="87" d="100"/>
        </p:scale>
        <p:origin x="269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F17359-000A-9044-B834-9FBD0018D5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8B882-BA21-D947-B59A-B375F7B018C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73F5E-F60B-3D42-A6DD-6D5611C2F6EE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9AD5B-1A75-1A4A-8459-A96AB79E9D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9C6818-84EB-2D43-AA44-FC64C4595B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A1AC-D174-D44D-BB31-612041F19A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70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946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D7A90A1-A930-7E45-A0C6-7B528BC17B68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8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3055" y="0"/>
            <a:ext cx="6098946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0" y="1720312"/>
            <a:ext cx="60930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24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9525627-537D-D740-918D-FD8895672A9F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B4FF4E3-951F-F040-800F-0DDAC2CCC507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422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790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1521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011522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21F7CE-A4E6-574A-B490-8FC4327728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512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057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91DF7114-976E-3345-A7C4-77F951EA42C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27322" y="1507066"/>
            <a:ext cx="10134371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06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CCA2E80D-B045-2346-9C1F-70BFBD4AF7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11369070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40B4699-8C04-D74B-BFAF-27221E81DEBB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87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15342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5286196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2715790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1328B3-338C-BB43-A9F5-AACCE2E54E86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695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8264"/>
            <a:ext cx="5822209" cy="4427316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1B97752-63E3-7E41-86AA-8084AC3E48D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87905" y="4498670"/>
            <a:ext cx="4179375" cy="356462"/>
          </a:xfrm>
        </p:spPr>
        <p:txBody>
          <a:bodyPr lIns="0" rIns="0">
            <a:normAutofit/>
          </a:bodyPr>
          <a:lstStyle>
            <a:lvl1pPr marL="0" indent="0" algn="r">
              <a:buNone/>
              <a:defRPr sz="1800" b="1" i="0" cap="all" spc="300" baseline="0">
                <a:solidFill>
                  <a:schemeClr val="tx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5521CA-473D-274E-A252-50E49A3EF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7905" y="1928264"/>
            <a:ext cx="4179376" cy="2387600"/>
          </a:xfrm>
        </p:spPr>
        <p:txBody>
          <a:bodyPr lIns="0" rIns="0" anchor="b">
            <a:normAutofit/>
          </a:bodyPr>
          <a:lstStyle>
            <a:lvl1pPr algn="r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27254B-5501-7248-A89F-42912B5A8BD2}"/>
              </a:ext>
            </a:extLst>
          </p:cNvPr>
          <p:cNvCxnSpPr>
            <a:cxnSpLocks/>
          </p:cNvCxnSpPr>
          <p:nvPr userDrawn="1"/>
        </p:nvCxnSpPr>
        <p:spPr>
          <a:xfrm>
            <a:off x="0" y="1405468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005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487" y="0"/>
            <a:ext cx="11067514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24487" y="-1"/>
            <a:ext cx="11067514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4B436F-A511-A141-900B-BA20A19A1BCE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087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21" descr="Woman on tablet ">
            <a:extLst>
              <a:ext uri="{FF2B5EF4-FFF2-40B4-BE49-F238E27FC236}">
                <a16:creationId xmlns:a16="http://schemas.microsoft.com/office/drawing/2014/main" id="{79F82B97-E9C9-C740-AE3A-A0BB4822D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D7B648-BE60-43F4-8E11-2AB267410D4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1662FCA-743F-AC4A-B6AC-269A9A26ECF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524000" y="5286196"/>
            <a:ext cx="4179375" cy="356462"/>
          </a:xfrm>
        </p:spPr>
        <p:txBody>
          <a:bodyPr lIns="0" rIns="0">
            <a:normAutofit/>
          </a:bodyPr>
          <a:lstStyle>
            <a:lvl1pPr marL="0" indent="0">
              <a:buNone/>
              <a:defRPr sz="1800" b="1" i="0" cap="all" spc="300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BC2EA4E-1692-1548-A245-3DC65B856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15790"/>
            <a:ext cx="4179376" cy="2387600"/>
          </a:xfrm>
        </p:spPr>
        <p:txBody>
          <a:bodyPr lIns="0" rIns="0" anchor="b">
            <a:normAutofit/>
          </a:bodyPr>
          <a:lstStyle>
            <a:lvl1pPr algn="l">
              <a:defRPr sz="48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57CAA2-2658-B441-A787-4B54C65D3BF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38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0668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5662" y="339644"/>
            <a:ext cx="5014993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6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8C2B99-ED08-1F48-BE5D-40E40D09C7B7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87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08843" y="3482977"/>
            <a:ext cx="10961177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B33817-49F3-B440-A271-466603AE1964}"/>
              </a:ext>
            </a:extLst>
          </p:cNvPr>
          <p:cNvCxnSpPr>
            <a:cxnSpLocks/>
          </p:cNvCxnSpPr>
          <p:nvPr userDrawn="1"/>
        </p:nvCxnSpPr>
        <p:spPr>
          <a:xfrm>
            <a:off x="0" y="421214"/>
            <a:ext cx="1219200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8576316B-7498-2E42-9B52-88BF1C9DF40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67465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51775DA-49A0-2F4D-9F21-5D20DA6B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8844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456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0C0F668-C1BA-A349-A542-9E54E73E8178}"/>
              </a:ext>
            </a:extLst>
          </p:cNvPr>
          <p:cNvCxnSpPr>
            <a:cxnSpLocks/>
          </p:cNvCxnSpPr>
          <p:nvPr userDrawn="1"/>
        </p:nvCxnSpPr>
        <p:spPr>
          <a:xfrm>
            <a:off x="4961621" y="339644"/>
            <a:ext cx="0" cy="2806512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339644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339644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26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0" y="3482977"/>
            <a:ext cx="12192000" cy="337502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32AA92-D0AC-8247-A360-19A5932C4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1244" y="568512"/>
            <a:ext cx="6002556" cy="2806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600">
                <a:latin typeface="+mj-lt"/>
              </a:defRPr>
            </a:lvl1pPr>
            <a:lvl2pPr algn="l">
              <a:defRPr sz="1600">
                <a:latin typeface="+mj-lt"/>
              </a:defRPr>
            </a:lvl2pPr>
            <a:lvl3pPr algn="l">
              <a:defRPr sz="1600">
                <a:latin typeface="+mj-lt"/>
              </a:defRPr>
            </a:lvl3pPr>
            <a:lvl4pPr algn="l">
              <a:defRPr sz="1600">
                <a:latin typeface="+mj-lt"/>
              </a:defRPr>
            </a:lvl4pPr>
            <a:lvl5pPr algn="l">
              <a:defRPr sz="1600"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AD9F76-09D6-0D4E-99ED-D9391C974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568512"/>
            <a:ext cx="4179376" cy="2806512"/>
          </a:xfrm>
        </p:spPr>
        <p:txBody>
          <a:bodyPr lIns="0" rIns="0" anchor="ctr">
            <a:normAutofit/>
          </a:bodyPr>
          <a:lstStyle>
            <a:lvl1pPr algn="l">
              <a:defRPr sz="48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414763-7D4F-994A-AAA9-7DC46C19D816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706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7321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78CECE2-CD4D-4A44-927A-53FFE158AF1C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27321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796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627322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67963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07371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0134369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B2D7F8-9505-6148-BEA2-27C4290FF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9ADB053-F5D5-D34D-B6E3-A8AB7297F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3265" y="2330824"/>
            <a:ext cx="4693727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5E12F7-C53F-EB47-8D86-3CE7D6B2A8F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4" y="1468740"/>
            <a:ext cx="4672156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C3895DE-E9F7-5A41-91A4-BC8DE509CF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33265" y="1468740"/>
            <a:ext cx="469516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8CCA37-00BD-0A43-8647-67DD0510A7E3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1966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16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5233AE2-5078-C34D-8EAD-6F7B344F52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-1"/>
            <a:ext cx="12192000" cy="6857999"/>
          </a:xfrm>
          <a:custGeom>
            <a:avLst/>
            <a:gdLst>
              <a:gd name="connsiteX0" fmla="*/ 0 w 5822209"/>
              <a:gd name="connsiteY0" fmla="*/ 0 h 4427316"/>
              <a:gd name="connsiteX1" fmla="*/ 5822209 w 5822209"/>
              <a:gd name="connsiteY1" fmla="*/ 0 h 4427316"/>
              <a:gd name="connsiteX2" fmla="*/ 5822209 w 5822209"/>
              <a:gd name="connsiteY2" fmla="*/ 4427316 h 4427316"/>
              <a:gd name="connsiteX3" fmla="*/ 0 w 5822209"/>
              <a:gd name="connsiteY3" fmla="*/ 4427316 h 4427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2209" h="4427316">
                <a:moveTo>
                  <a:pt x="0" y="0"/>
                </a:moveTo>
                <a:lnTo>
                  <a:pt x="5822209" y="0"/>
                </a:lnTo>
                <a:lnTo>
                  <a:pt x="5822209" y="4427316"/>
                </a:lnTo>
                <a:lnTo>
                  <a:pt x="0" y="4427316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4699EEF-FB75-1A46-B6B6-39CCF65A9EA4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CD5966-5C30-E943-A71E-F48460A377D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969977-F5DB-3A45-9E9E-556F0938C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2623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6D6BBCB-7852-8449-BC02-C5471A775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30824"/>
            <a:ext cx="5181600" cy="384613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2pPr>
            <a:lvl3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3pPr>
            <a:lvl4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4pPr>
            <a:lvl5pPr>
              <a:lnSpc>
                <a:spcPct val="100000"/>
              </a:lnSpc>
              <a:defRPr sz="16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25055FA-EC63-034E-B383-78552FAEA37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2623" y="1468740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63F1262-F0B7-5B4F-A1EE-7A2D9835E6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468740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F5877A-6F1B-5C4C-8792-78CDE344D0E0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99690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588936"/>
            <a:ext cx="11432584" cy="5976637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41291C-383F-CF4B-AB8E-2B40741A62AF}"/>
              </a:ext>
            </a:extLst>
          </p:cNvPr>
          <p:cNvCxnSpPr>
            <a:cxnSpLocks/>
          </p:cNvCxnSpPr>
          <p:nvPr userDrawn="1"/>
        </p:nvCxnSpPr>
        <p:spPr>
          <a:xfrm>
            <a:off x="0" y="29242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4C5937-11C0-4E5A-867C-7AB68EA5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1957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92623" y="292426"/>
            <a:ext cx="10219457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16C013-C8E5-B44C-B6D6-DE71D0CC52C4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4E2D069-321B-434C-BB63-530EE51B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12183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1134319" y="0"/>
            <a:ext cx="1105768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A0415B-CCA3-7142-BDAA-6DAC63FB634C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3040D77-4CF4-4BFB-9FFB-8C9746D39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264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A34E77-65E8-214A-93DD-907ECB950F42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9C15D6B-DF62-4A31-87F3-2084A6C5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78934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93359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570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519864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711877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08797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4037ED-B73E-2946-8FAC-2803EA71C585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2672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4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34319" y="1"/>
            <a:ext cx="11057681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67D640-AB06-EE4B-868D-F46A30705F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1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907ACF-A34F-FE4A-8511-B7FE12F69496}"/>
              </a:ext>
            </a:extLst>
          </p:cNvPr>
          <p:cNvCxnSpPr>
            <a:cxnSpLocks/>
          </p:cNvCxnSpPr>
          <p:nvPr userDrawn="1"/>
        </p:nvCxnSpPr>
        <p:spPr>
          <a:xfrm>
            <a:off x="112448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394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E0B206EA-4BA0-3F4C-A4ED-E78F311CD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2000" cy="685800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id-ID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69E9592-D634-1947-B3FB-EB3B7F16FF28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D456EAF-F3B8-AF4A-90FF-4B0693C56A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489057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7FB4ADF-1B3E-A442-B2C9-518CBE7637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4" y="1507066"/>
            <a:ext cx="4890578" cy="48492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996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46059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13354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3355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39C4094-208E-7E4A-848A-F76A1573073A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35500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5445942" y="292426"/>
            <a:ext cx="6297515" cy="6273148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4418889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5080791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E71BC7-72EE-294C-9A39-61A77EE295A0}"/>
              </a:ext>
            </a:extLst>
          </p:cNvPr>
          <p:cNvCxnSpPr>
            <a:cxnSpLocks/>
          </p:cNvCxnSpPr>
          <p:nvPr userDrawn="1"/>
        </p:nvCxnSpPr>
        <p:spPr>
          <a:xfrm>
            <a:off x="392623" y="5080791"/>
            <a:ext cx="4609683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17384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5581" y="4418889"/>
            <a:ext cx="3289100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45582" y="5080791"/>
            <a:ext cx="3289100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76AC280-5A8D-B048-BECC-9C306F32508F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89061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F4417F7-7CDE-DF44-9B0E-AC44EE99B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7670D6E-CED1-EE4B-A761-0D1C7A246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429000"/>
            <a:ext cx="4609683" cy="637507"/>
          </a:xfrm>
        </p:spPr>
        <p:txBody>
          <a:bodyPr lIns="0" rIns="0" anchor="b">
            <a:noAutofit/>
          </a:bodyPr>
          <a:lstStyle>
            <a:lvl1pPr algn="l">
              <a:defRPr sz="40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0DAC9D44-F28B-2B43-8B6F-260CB811AA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2622" y="4090902"/>
            <a:ext cx="4609683" cy="1484783"/>
          </a:xfrm>
        </p:spPr>
        <p:txBody>
          <a:bodyPr lIns="0" rIns="0"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9F22032-BAB9-744C-B14E-54350BBD1C71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2380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2" y="339645"/>
            <a:ext cx="10219457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noProof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2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5605550" y="229400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683052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5610992" y="3519693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683052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5610992" y="4784289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683052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2257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22570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2257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22570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2257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22570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00441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500441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500441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6500441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00441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500441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8A232C0-1AC5-164D-B8B6-CC8F07CF2E21}"/>
              </a:ext>
            </a:extLst>
          </p:cNvPr>
          <p:cNvCxnSpPr>
            <a:cxnSpLocks/>
          </p:cNvCxnSpPr>
          <p:nvPr userDrawn="1"/>
        </p:nvCxnSpPr>
        <p:spPr>
          <a:xfrm>
            <a:off x="11057682" y="0"/>
            <a:ext cx="0" cy="685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8307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F9F391E-143D-F948-ADAE-29AEA3C1EBFB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EFF75-79D2-EE46-877B-299D1510E6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accent4">
                    <a:lumMod val="75000"/>
                  </a:schemeClr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1405468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6">
            <a:extLst>
              <a:ext uri="{FF2B5EF4-FFF2-40B4-BE49-F238E27FC236}">
                <a16:creationId xmlns:a16="http://schemas.microsoft.com/office/drawing/2014/main" id="{B3776AA3-9860-D247-8A43-85FD58FFFD43}"/>
              </a:ext>
            </a:extLst>
          </p:cNvPr>
          <p:cNvSpPr/>
          <p:nvPr/>
        </p:nvSpPr>
        <p:spPr>
          <a:xfrm>
            <a:off x="392623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Rectangle: Rounded Corners 16">
            <a:extLst>
              <a:ext uri="{FF2B5EF4-FFF2-40B4-BE49-F238E27FC236}">
                <a16:creationId xmlns:a16="http://schemas.microsoft.com/office/drawing/2014/main" id="{F5244B71-4557-B64C-8C28-456C7623AE5B}"/>
              </a:ext>
            </a:extLst>
          </p:cNvPr>
          <p:cNvSpPr/>
          <p:nvPr userDrawn="1"/>
        </p:nvSpPr>
        <p:spPr>
          <a:xfrm>
            <a:off x="392623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61" name="Rectangle: Rounded Corners 16">
            <a:extLst>
              <a:ext uri="{FF2B5EF4-FFF2-40B4-BE49-F238E27FC236}">
                <a16:creationId xmlns:a16="http://schemas.microsoft.com/office/drawing/2014/main" id="{1A5F3004-02A9-1E43-A3E5-8ABCD5ED1A1C}"/>
              </a:ext>
            </a:extLst>
          </p:cNvPr>
          <p:cNvSpPr/>
          <p:nvPr userDrawn="1"/>
        </p:nvSpPr>
        <p:spPr>
          <a:xfrm>
            <a:off x="392623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8" name="Rectangle: Rounded Corners 16">
            <a:extLst>
              <a:ext uri="{FF2B5EF4-FFF2-40B4-BE49-F238E27FC236}">
                <a16:creationId xmlns:a16="http://schemas.microsoft.com/office/drawing/2014/main" id="{491E125D-06D1-A343-A3C9-CBC63A66CDC0}"/>
              </a:ext>
            </a:extLst>
          </p:cNvPr>
          <p:cNvSpPr/>
          <p:nvPr userDrawn="1"/>
        </p:nvSpPr>
        <p:spPr>
          <a:xfrm>
            <a:off x="6472581" y="2356447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428792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0" name="Rectangle: Rounded Corners 16">
            <a:extLst>
              <a:ext uri="{FF2B5EF4-FFF2-40B4-BE49-F238E27FC236}">
                <a16:creationId xmlns:a16="http://schemas.microsoft.com/office/drawing/2014/main" id="{9DDF7684-5C6D-B344-A059-87C2BDD8657A}"/>
              </a:ext>
            </a:extLst>
          </p:cNvPr>
          <p:cNvSpPr/>
          <p:nvPr userDrawn="1"/>
        </p:nvSpPr>
        <p:spPr>
          <a:xfrm>
            <a:off x="6472581" y="3582132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654477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2" name="Rectangle: Rounded Corners 16">
            <a:extLst>
              <a:ext uri="{FF2B5EF4-FFF2-40B4-BE49-F238E27FC236}">
                <a16:creationId xmlns:a16="http://schemas.microsoft.com/office/drawing/2014/main" id="{FE14D617-9285-9D4D-84E4-7BBD145B397E}"/>
              </a:ext>
            </a:extLst>
          </p:cNvPr>
          <p:cNvSpPr/>
          <p:nvPr userDrawn="1"/>
        </p:nvSpPr>
        <p:spPr>
          <a:xfrm>
            <a:off x="6472581" y="4846728"/>
            <a:ext cx="506948" cy="506948"/>
          </a:xfrm>
          <a:prstGeom prst="roundRect">
            <a:avLst/>
          </a:prstGeom>
          <a:noFill/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91907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574890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328032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807945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561087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5068709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821851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40267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D2B2CC15-A5D6-7646-B184-255F86FB708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48661" y="339645"/>
            <a:ext cx="10113030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342197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089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3089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73089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949266" y="2366353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949266" y="3592038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49266" y="485663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48878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2488784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48878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2488784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48878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488784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655" y="2512451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766655" y="2265592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766655" y="3745506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766655" y="3498647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66655" y="5006270"/>
            <a:ext cx="3995035" cy="426685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766655" y="4759411"/>
            <a:ext cx="3995036" cy="365095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D604C81-B013-4641-9B16-5E9ECBD30CBA}"/>
              </a:ext>
            </a:extLst>
          </p:cNvPr>
          <p:cNvCxnSpPr>
            <a:cxnSpLocks/>
          </p:cNvCxnSpPr>
          <p:nvPr userDrawn="1"/>
        </p:nvCxnSpPr>
        <p:spPr>
          <a:xfrm>
            <a:off x="1134319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681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5">
            <a:extLst>
              <a:ext uri="{FF2B5EF4-FFF2-40B4-BE49-F238E27FC236}">
                <a16:creationId xmlns:a16="http://schemas.microsoft.com/office/drawing/2014/main" id="{C76CA39F-4826-EC4A-B911-A0B38E489269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2DFD1-09C0-6845-8219-0846F32E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F9F391E-143D-F948-ADAE-29AEA3C1EBFB}" type="datetimeFigureOut">
              <a:rPr lang="en-US" smtClean="0"/>
              <a:pPr/>
              <a:t>11/7/25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D7355-C4D0-1F4D-A365-E4AF1D8F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71307-5F5C-D847-B837-8C60542C4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FEFF75-79D2-EE46-877B-299D1510E68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04801C-3319-AC43-9484-8377A4F8F2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2623" y="339645"/>
            <a:ext cx="11369068" cy="1002552"/>
          </a:xfrm>
        </p:spPr>
        <p:txBody>
          <a:bodyPr lIns="0" rIns="0" anchor="b">
            <a:noAutofit/>
          </a:bodyPr>
          <a:lstStyle>
            <a:lvl1pPr algn="l">
              <a:defRPr sz="4500" b="0" i="0" cap="all" baseline="0">
                <a:solidFill>
                  <a:schemeClr val="bg1"/>
                </a:solidFill>
                <a:latin typeface="Sagona ExtraLight" panose="02020303050505020204" pitchFamily="18" charset="0"/>
              </a:defRPr>
            </a:lvl1pPr>
          </a:lstStyle>
          <a:p>
            <a:r>
              <a:rPr lang="en-US" dirty="0"/>
              <a:t>TITLE GOE HERE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81E455-9E6F-1B48-A537-F86699963276}"/>
              </a:ext>
            </a:extLst>
          </p:cNvPr>
          <p:cNvCxnSpPr>
            <a:cxnSpLocks/>
          </p:cNvCxnSpPr>
          <p:nvPr userDrawn="1"/>
        </p:nvCxnSpPr>
        <p:spPr>
          <a:xfrm>
            <a:off x="392623" y="1974810"/>
            <a:ext cx="0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F93E56-30EE-384E-9A8A-090C645582DB}"/>
              </a:ext>
            </a:extLst>
          </p:cNvPr>
          <p:cNvCxnSpPr>
            <a:cxnSpLocks/>
          </p:cNvCxnSpPr>
          <p:nvPr userDrawn="1"/>
        </p:nvCxnSpPr>
        <p:spPr>
          <a:xfrm>
            <a:off x="392623" y="2038081"/>
            <a:ext cx="1136906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A07194D-FDC6-4941-AE99-5ED1F7F4C5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4683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5">
            <a:extLst>
              <a:ext uri="{FF2B5EF4-FFF2-40B4-BE49-F238E27FC236}">
                <a16:creationId xmlns:a16="http://schemas.microsoft.com/office/drawing/2014/main" id="{B12F4613-2BD8-E54D-A2E0-8707A28A10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4683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2" name="Picture Placeholder 5">
            <a:extLst>
              <a:ext uri="{FF2B5EF4-FFF2-40B4-BE49-F238E27FC236}">
                <a16:creationId xmlns:a16="http://schemas.microsoft.com/office/drawing/2014/main" id="{1A844DD7-EE1E-F04F-91C7-38039BFF20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683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9" name="Picture Placeholder 5">
            <a:extLst>
              <a:ext uri="{FF2B5EF4-FFF2-40B4-BE49-F238E27FC236}">
                <a16:creationId xmlns:a16="http://schemas.microsoft.com/office/drawing/2014/main" id="{26670858-0422-9546-B0BD-9B2D594140B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44641" y="2215464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1" name="Picture Placeholder 5">
            <a:extLst>
              <a:ext uri="{FF2B5EF4-FFF2-40B4-BE49-F238E27FC236}">
                <a16:creationId xmlns:a16="http://schemas.microsoft.com/office/drawing/2014/main" id="{72578CBB-F47F-C740-982B-BA1719663CC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44641" y="3441149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3" name="Picture Placeholder 5">
            <a:extLst>
              <a:ext uri="{FF2B5EF4-FFF2-40B4-BE49-F238E27FC236}">
                <a16:creationId xmlns:a16="http://schemas.microsoft.com/office/drawing/2014/main" id="{32A1D8CC-0021-A243-9775-CF930D41B94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44641" y="4705745"/>
            <a:ext cx="369944" cy="368788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7" name="Text Placeholder 10">
            <a:extLst>
              <a:ext uri="{FF2B5EF4-FFF2-40B4-BE49-F238E27FC236}">
                <a16:creationId xmlns:a16="http://schemas.microsoft.com/office/drawing/2014/main" id="{8867B6C6-0A29-A04E-BAE5-B9060225E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13862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9DF49D7C-2E08-9348-9C2B-0496EF9612DF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1213862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Text Placeholder 10">
            <a:extLst>
              <a:ext uri="{FF2B5EF4-FFF2-40B4-BE49-F238E27FC236}">
                <a16:creationId xmlns:a16="http://schemas.microsoft.com/office/drawing/2014/main" id="{2733402A-D14F-6D48-A59D-329C3824DD2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213862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3886AD51-641D-6B44-B558-2B15E88D1BC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1213862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2" name="Text Placeholder 10">
            <a:extLst>
              <a:ext uri="{FF2B5EF4-FFF2-40B4-BE49-F238E27FC236}">
                <a16:creationId xmlns:a16="http://schemas.microsoft.com/office/drawing/2014/main" id="{C00297CA-1F0B-4C44-852F-CF6FEA9F948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13862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3F704107-F38D-E044-8226-ACDDEDEDC605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213862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Text Placeholder 10">
            <a:extLst>
              <a:ext uri="{FF2B5EF4-FFF2-40B4-BE49-F238E27FC236}">
                <a16:creationId xmlns:a16="http://schemas.microsoft.com/office/drawing/2014/main" id="{7A332327-16D9-9B48-8EAC-A4F377D5904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358765" y="2361562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8EB0263B-D418-C14A-A00B-092B5EB5C515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358764" y="2114704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Text Placeholder 10">
            <a:extLst>
              <a:ext uri="{FF2B5EF4-FFF2-40B4-BE49-F238E27FC236}">
                <a16:creationId xmlns:a16="http://schemas.microsoft.com/office/drawing/2014/main" id="{53CC49A6-2AB5-664B-9A6C-56D70E1382D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358765" y="3594617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718CCABC-AF06-5241-8D13-EB2F4637D435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7358764" y="3347759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8" name="Text Placeholder 10">
            <a:extLst>
              <a:ext uri="{FF2B5EF4-FFF2-40B4-BE49-F238E27FC236}">
                <a16:creationId xmlns:a16="http://schemas.microsoft.com/office/drawing/2014/main" id="{5119242C-1FE8-C140-9349-8172F954E3C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58765" y="4855381"/>
            <a:ext cx="4411704" cy="365077"/>
          </a:xfrm>
        </p:spPr>
        <p:txBody>
          <a:bodyPr l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2pPr>
            <a:lvl3pPr marL="9144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3pPr>
            <a:lvl4pPr marL="13716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4pPr>
            <a:lvl5pPr marL="1828800" indent="0">
              <a:lnSpc>
                <a:spcPct val="100000"/>
              </a:lnSpc>
              <a:buNone/>
              <a:defRPr sz="900">
                <a:solidFill>
                  <a:schemeClr val="tx1"/>
                </a:solidFill>
                <a:latin typeface="Speak Pro" panose="020B0504020101020102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23F2AE0B-3E70-BB47-8FBC-FE66A5A297BD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358764" y="4608523"/>
            <a:ext cx="4411705" cy="312380"/>
          </a:xfrm>
        </p:spPr>
        <p:txBody>
          <a:bodyPr lIns="0" anchor="b">
            <a:noAutofit/>
          </a:bodyPr>
          <a:lstStyle>
            <a:lvl1pPr marL="0" indent="0">
              <a:buNone/>
              <a:defRPr sz="1800" b="1" cap="all" baseline="0">
                <a:solidFill>
                  <a:schemeClr val="bg1"/>
                </a:solidFill>
                <a:latin typeface="Speak Pro" panose="020B0504020101020102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AF7CBB0-F32C-B84C-AEEA-FA0944BBB865}"/>
              </a:ext>
            </a:extLst>
          </p:cNvPr>
          <p:cNvCxnSpPr>
            <a:cxnSpLocks/>
          </p:cNvCxnSpPr>
          <p:nvPr userDrawn="1"/>
        </p:nvCxnSpPr>
        <p:spPr>
          <a:xfrm>
            <a:off x="0" y="5992966"/>
            <a:ext cx="12192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958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02FA6-24E0-3C4A-8B7A-F529DB122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45A71-C369-2A42-A14F-2BD1985F7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70798-FB93-8742-9A92-FA7A241AF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56824-A55C-4F44-B9CB-109B027241D7}" type="datetimeFigureOut">
              <a:rPr lang="en-US" smtClean="0"/>
              <a:t>11/7/25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2A715-D537-DD4B-8BE6-1E573155F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E735-B191-784C-98F7-65384DAC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6627B-E4D5-2947-8E88-B84039729B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582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3" r:id="rId2"/>
    <p:sldLayoutId id="2147483670" r:id="rId3"/>
    <p:sldLayoutId id="2147483674" r:id="rId4"/>
    <p:sldLayoutId id="2147483661" r:id="rId5"/>
    <p:sldLayoutId id="2147483676" r:id="rId6"/>
    <p:sldLayoutId id="2147483675" r:id="rId7"/>
    <p:sldLayoutId id="2147483677" r:id="rId8"/>
    <p:sldLayoutId id="2147483678" r:id="rId9"/>
    <p:sldLayoutId id="2147483679" r:id="rId10"/>
    <p:sldLayoutId id="2147483681" r:id="rId11"/>
    <p:sldLayoutId id="2147483682" r:id="rId12"/>
    <p:sldLayoutId id="2147483686" r:id="rId13"/>
    <p:sldLayoutId id="2147483683" r:id="rId14"/>
    <p:sldLayoutId id="2147483685" r:id="rId15"/>
    <p:sldLayoutId id="2147483684" r:id="rId16"/>
    <p:sldLayoutId id="2147483680" r:id="rId17"/>
    <p:sldLayoutId id="2147483691" r:id="rId18"/>
    <p:sldLayoutId id="2147483692" r:id="rId19"/>
    <p:sldLayoutId id="2147483693" r:id="rId20"/>
    <p:sldLayoutId id="2147483694" r:id="rId21"/>
    <p:sldLayoutId id="2147483688" r:id="rId22"/>
    <p:sldLayoutId id="2147483687" r:id="rId23"/>
    <p:sldLayoutId id="2147483689" r:id="rId24"/>
    <p:sldLayoutId id="2147483690" r:id="rId25"/>
    <p:sldLayoutId id="2147483695" r:id="rId26"/>
    <p:sldLayoutId id="2147483696" r:id="rId27"/>
    <p:sldLayoutId id="2147483697" r:id="rId28"/>
    <p:sldLayoutId id="2147483698" r:id="rId29"/>
    <p:sldLayoutId id="2147483703" r:id="rId30"/>
    <p:sldLayoutId id="2147483704" r:id="rId31"/>
    <p:sldLayoutId id="2147483705" r:id="rId32"/>
    <p:sldLayoutId id="2147483706" r:id="rId33"/>
    <p:sldLayoutId id="2147483700" r:id="rId34"/>
    <p:sldLayoutId id="2147483699" r:id="rId35"/>
    <p:sldLayoutId id="2147483701" r:id="rId36"/>
    <p:sldLayoutId id="2147483702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21" descr="Woman on tablet ">
            <a:extLst>
              <a:ext uri="{FF2B5EF4-FFF2-40B4-BE49-F238E27FC236}">
                <a16:creationId xmlns:a16="http://schemas.microsoft.com/office/drawing/2014/main" id="{DB20DB88-CBCC-9A4A-BA0A-4807E1B8E8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duotone>
              <a:prstClr val="black"/>
              <a:schemeClr val="accent3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632" r="4632"/>
          <a:stretch/>
        </p:blipFill>
        <p:spPr>
          <a:xfrm>
            <a:off x="1134319" y="0"/>
            <a:ext cx="11057681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362CB-F41D-164B-BAC7-F91A6E68A2A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24000" y="5286196"/>
            <a:ext cx="4179375" cy="356462"/>
          </a:xfrm>
        </p:spPr>
        <p:txBody>
          <a:bodyPr/>
          <a:lstStyle/>
          <a:p>
            <a:r>
              <a:rPr lang="en-US" dirty="0"/>
              <a:t>Jude Pereira</a:t>
            </a:r>
            <a:endParaRPr lang="id-ID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516ACA-375D-1140-8EDA-CE04AAC75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715790"/>
            <a:ext cx="9533681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Price with a Smile: </a:t>
            </a:r>
            <a:br>
              <a:rPr lang="en-US" dirty="0"/>
            </a:br>
            <a:r>
              <a:rPr lang="en-US" dirty="0"/>
              <a:t>A Production-style Local Volatility Surface &amp; Backtest</a:t>
            </a:r>
          </a:p>
        </p:txBody>
      </p:sp>
    </p:spTree>
    <p:extLst>
      <p:ext uri="{BB962C8B-B14F-4D97-AF65-F5344CB8AC3E}">
        <p14:creationId xmlns:p14="http://schemas.microsoft.com/office/powerpoint/2010/main" val="428584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B67D-0526-AC3A-7F9A-2BAA285B9D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Project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32F20-7BA6-8332-D602-C40D64A6CD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project implements and backtests a Local Volatility (Dupire-type) pricing and hedging framework against a Black-Scholes sticky implied volatility baseline, using real market option quotes over multiple consecutive trading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goal is to assess out-of-sample </a:t>
            </a:r>
            <a:r>
              <a:rPr lang="el-GR" sz="2000" dirty="0"/>
              <a:t>Δ-</a:t>
            </a:r>
            <a:r>
              <a:rPr lang="en-US" sz="2000" dirty="0"/>
              <a:t>hedged P&amp;L stability and pricing RMSE across models, verifying whether the local-volatility surface provides more consistent hedging performance than the simpler sticky-volatility 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motivation was to build a realistic, end-to-end quant research project on local volatility that mirrors what a junior quant researcher might actually do day-to-day: cleaning market data, building arbitrage-free surfaces, calibrating models, pricing/hedging, and writing evidence-backed reports.</a:t>
            </a:r>
          </a:p>
        </p:txBody>
      </p:sp>
    </p:spTree>
    <p:extLst>
      <p:ext uri="{BB962C8B-B14F-4D97-AF65-F5344CB8AC3E}">
        <p14:creationId xmlns:p14="http://schemas.microsoft.com/office/powerpoint/2010/main" val="2365729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26DDC-0893-DACD-8EF7-E2DFE5F3E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2" y="594231"/>
            <a:ext cx="11369068" cy="768377"/>
          </a:xfrm>
        </p:spPr>
        <p:txBody>
          <a:bodyPr/>
          <a:lstStyle/>
          <a:p>
            <a:r>
              <a:rPr lang="en-US" sz="3600" dirty="0"/>
              <a:t>1. Wake the market up (collect quotes)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D5B1B1E-9799-173B-498E-945250DE49E5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411467" y="1437395"/>
                <a:ext cx="11369070" cy="4849283"/>
              </a:xfrm>
            </p:spPr>
            <p:txBody>
              <a:bodyPr>
                <a:no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We start each day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b="0" dirty="0"/>
                  <a:t> by pulling a grid of SPX option quotes (calls and puts).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Each row is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𝑐𝑝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𝑒𝑥𝑝𝑖𝑟𝑦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𝑏𝑖𝑑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𝑎𝑠𝑘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𝑚𝑖𝑑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r>
                  <a:rPr lang="en-US" sz="2000" dirty="0"/>
                  <a:t>	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𝑑𝑎𝑦𝑠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𝑡𝑜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𝑒𝑥𝑝𝑖𝑟𝑦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365</m:t>
                        </m:r>
                      </m:den>
                    </m:f>
                  </m:oMath>
                </a14:m>
                <a:r>
                  <a:rPr lang="en-US" sz="2000" dirty="0"/>
                  <a:t>  recomputed from the calendar to avoid round-off drift. We drop 	crossed/degenerate quotes and keep those with positive mids and reasonable relative spreads.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D5B1B1E-9799-173B-498E-945250DE4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411467" y="1437395"/>
                <a:ext cx="11369070" cy="4849283"/>
              </a:xfrm>
              <a:blipFill>
                <a:blip r:embed="rId2"/>
                <a:stretch>
                  <a:fillRect l="-1228"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BFAFB3-3586-2078-1029-C513FAFF4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104" y="3557237"/>
            <a:ext cx="6834105" cy="3189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C7851-7D59-7C0F-3357-5FEC8E152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5614" y="2096846"/>
            <a:ext cx="4620771" cy="54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4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7CEE6-E393-68AA-2152-1571A13E3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4" y="0"/>
            <a:ext cx="11369068" cy="1002552"/>
          </a:xfrm>
        </p:spPr>
        <p:txBody>
          <a:bodyPr/>
          <a:lstStyle/>
          <a:p>
            <a:r>
              <a:rPr lang="en-US" sz="3600" dirty="0"/>
              <a:t>2. Ask the market what the forward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95617E6-8F06-3713-534C-AEA2BF2E4194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392624" y="1507066"/>
                <a:ext cx="6896072" cy="484928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For each expiry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b="0" dirty="0"/>
                  <a:t> and strike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000" b="0" dirty="0"/>
                  <a:t>, we form a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b="0" dirty="0"/>
                  <a:t> pair and apply forward put-call parity in forward measure:</a:t>
                </a:r>
              </a:p>
              <a:p>
                <a:pPr algn="ctr"/>
                <a:endParaRPr lang="en-US" sz="2000" b="0" dirty="0"/>
              </a:p>
              <a:p>
                <a:endParaRPr lang="en-US" sz="2000" b="0" dirty="0"/>
              </a:p>
              <a:p>
                <a:r>
                  <a:rPr lang="en-US" sz="2000" dirty="0"/>
                  <a:t>Take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=0</m:t>
                    </m:r>
                  </m:oMath>
                </a14:m>
                <a:r>
                  <a:rPr lang="en-US" sz="2000" dirty="0"/>
                  <a:t>. </a:t>
                </a:r>
                <a:r>
                  <a:rPr lang="en-US" sz="2000" b="0" dirty="0"/>
                  <a:t>We solve for forward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b="0" dirty="0"/>
                  <a:t> and keep one representative pair near-ATM per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sz="2000" b="0" dirty="0"/>
                  <a:t>. This gives “forwards” table:</a:t>
                </a:r>
              </a:p>
              <a:p>
                <a:r>
                  <a:rPr lang="en-US" sz="2000" b="0" dirty="0"/>
                  <a:t> </a:t>
                </a:r>
              </a:p>
              <a:p>
                <a:endParaRPr lang="en-US" sz="2000" dirty="0"/>
              </a:p>
              <a:p>
                <a:r>
                  <a:rPr lang="en-US" sz="2000" b="0" dirty="0"/>
                  <a:t>From forward + spot, we also infer a dividend yield curve:</a:t>
                </a:r>
              </a:p>
              <a:p>
                <a:endParaRPr lang="en-US" sz="2000" b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95617E6-8F06-3713-534C-AEA2BF2E41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392624" y="1507066"/>
                <a:ext cx="6896072" cy="4849283"/>
              </a:xfrm>
              <a:blipFill>
                <a:blip r:embed="rId2"/>
                <a:stretch>
                  <a:fillRect l="-2202" t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 with a smiley face&#10;&#10;AI-generated content may be incorrect.">
            <a:extLst>
              <a:ext uri="{FF2B5EF4-FFF2-40B4-BE49-F238E27FC236}">
                <a16:creationId xmlns:a16="http://schemas.microsoft.com/office/drawing/2014/main" id="{4750A9E5-4188-890C-ED95-29B564D4A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8546" y="2369378"/>
            <a:ext cx="3596308" cy="565457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75E181A-E94D-04DE-02AE-BA5B4A275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599" y="3923166"/>
            <a:ext cx="3405255" cy="671625"/>
          </a:xfrm>
          <a:prstGeom prst="rect">
            <a:avLst/>
          </a:prstGeom>
        </p:spPr>
      </p:pic>
      <p:pic>
        <p:nvPicPr>
          <p:cNvPr id="9" name="Picture 8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30C828ED-2793-E99C-2442-EB1E435FD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807" y="5115151"/>
            <a:ext cx="3405255" cy="999495"/>
          </a:xfrm>
          <a:prstGeom prst="rect">
            <a:avLst/>
          </a:prstGeom>
        </p:spPr>
      </p:pic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3FB87A9-9EB7-390E-D28E-DCD1B3A361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195" b="22769"/>
          <a:stretch>
            <a:fillRect/>
          </a:stretch>
        </p:blipFill>
        <p:spPr>
          <a:xfrm>
            <a:off x="6997148" y="1002552"/>
            <a:ext cx="4545495" cy="3145288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53D5288-6550-D72C-498C-4D6101FCF24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049" b="13166"/>
          <a:stretch>
            <a:fillRect/>
          </a:stretch>
        </p:blipFill>
        <p:spPr>
          <a:xfrm>
            <a:off x="8158638" y="4258977"/>
            <a:ext cx="2512845" cy="239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2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9DFC-9F09-3BF7-6445-BCAB94E47B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3. Speak the market’s language (implied vols)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63B94D-49E6-9CF0-AEB5-AB29FEC5860D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We merge the quotes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. For each row, we solve for the Black-Scholes implied volatility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IV</m:t>
                        </m:r>
                      </m:sub>
                    </m:sSub>
                  </m:oMath>
                </a14:m>
                <a:r>
                  <a:rPr lang="en-US" sz="2000" dirty="0"/>
                  <a:t> such that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This produces the day’s IV table: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sz="3200" cap="all" dirty="0">
                    <a:solidFill>
                      <a:srgbClr val="045FC4">
                        <a:lumMod val="75000"/>
                      </a:srgbClr>
                    </a:solidFill>
                    <a:latin typeface="Sagona ExtraLight" panose="02020303050505020204" pitchFamily="18" charset="0"/>
                    <a:ea typeface="+mj-ea"/>
                    <a:cs typeface="+mj-cs"/>
                  </a:rPr>
                  <a:t>4</a:t>
                </a:r>
                <a:r>
                  <a:rPr kumimoji="0" lang="en-US" sz="3200" b="0" i="0" u="none" strike="noStrike" kern="1200" cap="all" spc="0" normalizeH="0" baseline="0" noProof="0" dirty="0">
                    <a:ln>
                      <a:noFill/>
                    </a:ln>
                    <a:solidFill>
                      <a:srgbClr val="045FC4">
                        <a:lumMod val="75000"/>
                      </a:srgbClr>
                    </a:solidFill>
                    <a:effectLst/>
                    <a:uLnTx/>
                    <a:uFillTx/>
                    <a:latin typeface="Sagona ExtraLight" panose="02020303050505020204" pitchFamily="18" charset="0"/>
                    <a:ea typeface="+mj-ea"/>
                    <a:cs typeface="+mj-cs"/>
                  </a:rPr>
                  <a:t>. Move to forward price space </a:t>
                </a:r>
              </a:p>
              <a:p>
                <a:r>
                  <a:rPr lang="en-US" sz="2000" dirty="0">
                    <a:solidFill>
                      <a:srgbClr val="000000"/>
                    </a:solidFill>
                  </a:rPr>
                  <a:t>To fit an arbitrage-free surface cleanly, we work with undiscounted forward call prices:</a:t>
                </a:r>
              </a:p>
              <a:p>
                <a:endParaRPr lang="en-US" sz="2000" dirty="0">
                  <a:solidFill>
                    <a:srgbClr val="000000"/>
                  </a:solidFill>
                </a:endParaRPr>
              </a:p>
              <a:p>
                <a:pPr lvl="0"/>
                <a:endParaRPr lang="en-US" sz="2000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  <a:p>
                <a:r>
                  <a:rPr lang="en-US" sz="2000" dirty="0"/>
                  <a:t>so that both calls and puts map to the same object c: the forward measure call price.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F63B94D-49E6-9CF0-AEB5-AB29FEC586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2"/>
                <a:stretch>
                  <a:fillRect l="-2121" t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BA417EB-0AE3-9A41-C38E-15A948858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757" y="2023718"/>
            <a:ext cx="5282095" cy="5375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136D34-000A-D86F-58EB-9590AAE81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975" y="3102203"/>
            <a:ext cx="3918226" cy="523172"/>
          </a:xfrm>
          <a:prstGeom prst="rect">
            <a:avLst/>
          </a:prstGeom>
        </p:spPr>
      </p:pic>
      <p:pic>
        <p:nvPicPr>
          <p:cNvPr id="9" name="Picture 8" descr="A black text with a plus and a white background&#10;&#10;AI-generated content may be incorrect.">
            <a:extLst>
              <a:ext uri="{FF2B5EF4-FFF2-40B4-BE49-F238E27FC236}">
                <a16:creationId xmlns:a16="http://schemas.microsoft.com/office/drawing/2014/main" id="{8920BEA9-6BA2-D4D8-7CC8-9DEC21640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7957" y="4758011"/>
            <a:ext cx="6691243" cy="88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7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238E7-A71F-3BBE-3793-D129B10DDD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Implied volatility smiles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4EC88D-2E2D-DF9E-6AB2-222B09F8D8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graph of a graph with blue dots&#10;&#10;AI-generated content may be incorrect.">
            <a:extLst>
              <a:ext uri="{FF2B5EF4-FFF2-40B4-BE49-F238E27FC236}">
                <a16:creationId xmlns:a16="http://schemas.microsoft.com/office/drawing/2014/main" id="{502263CA-A065-2537-ED83-798B4A2C4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3" y="1855257"/>
            <a:ext cx="5257800" cy="4152900"/>
          </a:xfrm>
          <a:prstGeom prst="rect">
            <a:avLst/>
          </a:prstGeom>
        </p:spPr>
      </p:pic>
      <p:pic>
        <p:nvPicPr>
          <p:cNvPr id="7" name="Picture 6" descr="A graph of colored dots&#10;&#10;AI-generated content may be incorrect.">
            <a:extLst>
              <a:ext uri="{FF2B5EF4-FFF2-40B4-BE49-F238E27FC236}">
                <a16:creationId xmlns:a16="http://schemas.microsoft.com/office/drawing/2014/main" id="{E4867C90-4B35-BE73-C4BF-64A2262C9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258" y="1855257"/>
            <a:ext cx="54356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9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6C51-2518-2C3C-C30D-F1F3C834B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5. Fit an arbitrage-free price surface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E7E097-EE24-F110-4C81-9967148970F0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We build a tensor grid: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Maturities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= 1,…,</m:t>
                    </m:r>
                    <m:r>
                      <a:rPr lang="en-US" sz="2000" i="1" dirty="0" err="1" smtClean="0">
                        <a:latin typeface="Cambria Math" panose="02040503050406030204" pitchFamily="18" charset="0"/>
                      </a:rPr>
                      <m:t>𝑛𝑇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Per-maturity strikes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i="1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 1,…,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US" sz="2000" b="0" i="1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lang="en-US" sz="2000" dirty="0"/>
                  <a:t> constructed form a common moneyness mesh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lit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d>
                  </m:oMath>
                </a14:m>
                <a:endParaRPr lang="en-US" sz="2000" b="0" dirty="0"/>
              </a:p>
              <a:p>
                <a:r>
                  <a:rPr lang="en-US" sz="2000" dirty="0"/>
                  <a:t>We then solve a convex program for the grid of forward call prices 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Subject to no-arbitrage constraints: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Bounds: 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Monotone in strike (calls decrease with K): 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Convex in strike (butterfly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en-US" sz="2000" dirty="0"/>
                  <a:t>):</a:t>
                </a:r>
              </a:p>
              <a:p>
                <a:pPr marL="457200" indent="-457200">
                  <a:buAutoNum type="arabicPeriod"/>
                </a:pPr>
                <a:r>
                  <a:rPr lang="en-US" sz="2000" dirty="0"/>
                  <a:t>Calendar monotonicity (longer expiries are worth more):  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3E7E097-EE24-F110-4C81-9967148970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2"/>
                <a:stretch>
                  <a:fillRect l="-1339" t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A9F245D-4676-4A79-C57C-938E7994B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4425" y="2837348"/>
            <a:ext cx="2112341" cy="439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EE5F67-237F-EC5C-4EB1-CB64E9142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366" y="3441841"/>
            <a:ext cx="7772400" cy="7326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910A7A-DE62-A626-7029-4EA4D37BE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653" y="4480039"/>
            <a:ext cx="2159000" cy="506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B3498B-2278-31A2-E41C-3CEBCFB25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9070" y="4940584"/>
            <a:ext cx="1773859" cy="5423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1C1B84-293D-4B92-E9CB-BC96516D4A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0874" y="5397663"/>
            <a:ext cx="3572566" cy="5219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36BD14-A19F-E8C5-6EAD-429A8F4EE7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661" y="5798110"/>
            <a:ext cx="1918252" cy="60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85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E95BD-A236-1035-A57B-C25F50633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6. Differentiate the surface (Dupire local volatility)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7B65791-398D-2C2E-4665-CB4D55675F3F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Given the fitted forward call surface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Dupire’s formula extracts instantaneous local variance: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We compute centered finite differences across T and non-uniform K; then clamp and sqrt: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This yields a local volatility surface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loc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defined on the same grid; we bi-linear interpolate it for continuous queries.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7B65791-398D-2C2E-4665-CB4D55675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2"/>
                <a:stretch>
                  <a:fillRect l="-1339" t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C7957C56-DE1C-C6A5-5904-69C6F53DB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557" y="2145747"/>
            <a:ext cx="3787982" cy="958983"/>
          </a:xfrm>
          <a:prstGeom prst="rect">
            <a:avLst/>
          </a:prstGeom>
        </p:spPr>
      </p:pic>
      <p:pic>
        <p:nvPicPr>
          <p:cNvPr id="7" name="Picture 6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CB21962-BC2B-5907-C08C-6D103A9BFE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853" y="3743411"/>
            <a:ext cx="4932293" cy="79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7D7649-EA33-8C4B-E9E1-FBF7AF7E1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253" y="3245618"/>
            <a:ext cx="3473529" cy="467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EBCC69-DF16-6603-7711-083FBDC477C3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To price at spot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, under local volatility, we solve the (risk-neutral) PDE backward in time on a spot-time grid: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With terminal condition 			 	       for call/put and standard boundary conditions. We use Crank-Nicolson time stepping and price calls/puts 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0, </m:t>
                    </m:r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</a:p>
              <a:p>
                <a:endParaRPr lang="en-US" sz="2000" dirty="0"/>
              </a:p>
              <a:p>
                <a:r>
                  <a:rPr lang="en-US" sz="2000" dirty="0"/>
                  <a:t>Greeks come from bump-and-reprice: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EBCC69-DF16-6603-7711-083FBDC477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3"/>
                <a:stretch>
                  <a:fillRect l="-1339" t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ACB797CA-7369-8FC8-0FB8-EF50363BC4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7. Price under local volatility</a:t>
            </a:r>
          </a:p>
        </p:txBody>
      </p:sp>
      <p:pic>
        <p:nvPicPr>
          <p:cNvPr id="5" name="Picture 4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471B6A44-717F-F602-9EC1-7548268D7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731" y="2101758"/>
            <a:ext cx="6860485" cy="1016368"/>
          </a:xfrm>
          <a:prstGeom prst="rect">
            <a:avLst/>
          </a:prstGeom>
        </p:spPr>
      </p:pic>
      <p:pic>
        <p:nvPicPr>
          <p:cNvPr id="9" name="Picture 8" descr="A mathematical equation with symbols&#10;&#10;AI-generated content may be incorrect.">
            <a:extLst>
              <a:ext uri="{FF2B5EF4-FFF2-40B4-BE49-F238E27FC236}">
                <a16:creationId xmlns:a16="http://schemas.microsoft.com/office/drawing/2014/main" id="{9FEE468B-0A8F-29AD-3B76-C63A8CF5B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74" y="5001407"/>
            <a:ext cx="4991100" cy="977900"/>
          </a:xfrm>
          <a:prstGeom prst="rect">
            <a:avLst/>
          </a:prstGeom>
        </p:spPr>
      </p:pic>
      <p:pic>
        <p:nvPicPr>
          <p:cNvPr id="11" name="Picture 10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7348B787-04EB-126F-9D6D-78A45F6CDE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7157" y="4960874"/>
            <a:ext cx="5309152" cy="7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98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17F7-2BA2-D693-C589-E75C2F229B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Pricing diagnostics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AD0AC-DEDD-B56F-336D-5EF93D6C85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Picture 12" descr="A graph of a market&#10;&#10;AI-generated content may be incorrect.">
            <a:extLst>
              <a:ext uri="{FF2B5EF4-FFF2-40B4-BE49-F238E27FC236}">
                <a16:creationId xmlns:a16="http://schemas.microsoft.com/office/drawing/2014/main" id="{F2B6CD5F-5504-0C4D-54D5-2B62A03AB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2" y="1507066"/>
            <a:ext cx="4987761" cy="5052038"/>
          </a:xfrm>
          <a:prstGeom prst="rect">
            <a:avLst/>
          </a:prstGeom>
        </p:spPr>
      </p:pic>
      <p:pic>
        <p:nvPicPr>
          <p:cNvPr id="17" name="Picture 16" descr="A graph of error distribution&#10;&#10;AI-generated content may be incorrect.">
            <a:extLst>
              <a:ext uri="{FF2B5EF4-FFF2-40B4-BE49-F238E27FC236}">
                <a16:creationId xmlns:a16="http://schemas.microsoft.com/office/drawing/2014/main" id="{96B7256E-E8E7-052F-47DE-6F8312D07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669" y="1507066"/>
            <a:ext cx="5731523" cy="423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59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6EE0-7E63-5E16-2C48-A56A09237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Pricing diagnostics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E73E-C7DF-FB89-4122-98FF39812C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graph of error and maturity&#10;&#10;AI-generated content may be incorrect.">
            <a:extLst>
              <a:ext uri="{FF2B5EF4-FFF2-40B4-BE49-F238E27FC236}">
                <a16:creationId xmlns:a16="http://schemas.microsoft.com/office/drawing/2014/main" id="{A154421E-F453-D98D-3812-71C942B99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624" y="1638299"/>
            <a:ext cx="5226298" cy="3858157"/>
          </a:xfrm>
          <a:prstGeom prst="rect">
            <a:avLst/>
          </a:prstGeom>
        </p:spPr>
      </p:pic>
      <p:pic>
        <p:nvPicPr>
          <p:cNvPr id="6" name="Picture 5" descr="A graph of error and moneyness&#10;&#10;AI-generated content may be incorrect.">
            <a:extLst>
              <a:ext uri="{FF2B5EF4-FFF2-40B4-BE49-F238E27FC236}">
                <a16:creationId xmlns:a16="http://schemas.microsoft.com/office/drawing/2014/main" id="{7AD851FE-CEB4-AE30-5F78-E3A241CD1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398" y="1638299"/>
            <a:ext cx="5904011" cy="378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18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AD52-0A94-8207-D325-FF74BDBF0D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Model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04CC0-8182-E67E-BCE8-7FA7D31781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ABA5FF0-9776-FE01-AFB2-232121C85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67" y="1661853"/>
            <a:ext cx="10500665" cy="453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223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B3350-37E6-3BD0-8C13-014A1A098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623" y="-79196"/>
            <a:ext cx="11369068" cy="1002552"/>
          </a:xfrm>
        </p:spPr>
        <p:txBody>
          <a:bodyPr/>
          <a:lstStyle/>
          <a:p>
            <a:r>
              <a:rPr lang="en-US" sz="4000" dirty="0"/>
              <a:t>Greeks' diagnostics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A1FB9-B6A6-41E7-8C1C-7EE47742A8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chart of a graph&#10;&#10;AI-generated content may be incorrect.">
            <a:extLst>
              <a:ext uri="{FF2B5EF4-FFF2-40B4-BE49-F238E27FC236}">
                <a16:creationId xmlns:a16="http://schemas.microsoft.com/office/drawing/2014/main" id="{F1006D12-59E5-CF0C-17FA-1D351D65F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1" y="1648604"/>
            <a:ext cx="6083789" cy="3795638"/>
          </a:xfrm>
          <a:prstGeom prst="rect">
            <a:avLst/>
          </a:prstGeom>
        </p:spPr>
      </p:pic>
      <p:pic>
        <p:nvPicPr>
          <p:cNvPr id="7" name="Picture 6" descr="A graph of a graph with numbers and a line&#10;&#10;AI-generated content may be incorrect.">
            <a:extLst>
              <a:ext uri="{FF2B5EF4-FFF2-40B4-BE49-F238E27FC236}">
                <a16:creationId xmlns:a16="http://schemas.microsoft.com/office/drawing/2014/main" id="{F7A91CE8-404B-D015-E0CD-A7676952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7790" y="3464736"/>
            <a:ext cx="5616057" cy="3369635"/>
          </a:xfrm>
          <a:prstGeom prst="rect">
            <a:avLst/>
          </a:prstGeom>
        </p:spPr>
      </p:pic>
      <p:pic>
        <p:nvPicPr>
          <p:cNvPr id="9" name="Picture 8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206C4379-06D2-84EC-3558-13343A511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790" y="36610"/>
            <a:ext cx="5677074" cy="342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35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6E2E24-9040-4E0E-E4DA-3E5A1AD1B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473" y="2020405"/>
            <a:ext cx="7504597" cy="8226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399976-C898-EE8A-12D1-EE3978066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806" y="4233507"/>
            <a:ext cx="5554872" cy="5777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4E5134E-C679-2490-930C-9486851D35E3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For the baseline, we keep the day-0 implied volatility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(nearest neighbor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) and price using Black-Scholes model: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=+1</m:t>
                    </m:r>
                  </m:oMath>
                </a14:m>
                <a:r>
                  <a:rPr lang="en-US" sz="2000" dirty="0"/>
                  <a:t> for calls and -1 for puts; the delta in spot terms is obtained by the usual chain rule.</a:t>
                </a:r>
              </a:p>
              <a:p>
                <a:r>
                  <a:rPr kumimoji="0" lang="en-US" sz="3200" b="0" i="0" u="none" strike="noStrike" kern="1200" cap="all" spc="0" normalizeH="0" baseline="0" noProof="0" dirty="0">
                    <a:ln>
                      <a:noFill/>
                    </a:ln>
                    <a:solidFill>
                      <a:srgbClr val="045FC4">
                        <a:lumMod val="75000"/>
                      </a:srgbClr>
                    </a:solidFill>
                    <a:effectLst/>
                    <a:uLnTx/>
                    <a:uFillTx/>
                    <a:latin typeface="Sagona ExtraLight" panose="02020303050505020204" pitchFamily="18" charset="0"/>
                    <a:ea typeface="+mj-ea"/>
                    <a:cs typeface="+mj-cs"/>
                  </a:rPr>
                  <a:t>9. Daily hedging</a:t>
                </a:r>
              </a:p>
              <a:p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 Light" panose="020F0302020204030204"/>
                  </a:rPr>
                  <a:t>For a contract seen on day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and the same contract on day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b="0" dirty="0"/>
              </a:p>
              <a:p>
                <a:endParaRPr lang="en-US" sz="2000" dirty="0"/>
              </a:p>
              <a:p>
                <a:r>
                  <a:rPr lang="en-US" sz="2000" dirty="0"/>
                  <a:t>We compute these for a filtered universe (tight moneyness band; first few expiries), then summarize by</a:t>
                </a:r>
              </a:p>
              <a:p>
                <a:endParaRPr lang="en-US" sz="2000" b="0" dirty="0"/>
              </a:p>
              <a:p>
                <a:endParaRPr lang="en-US" sz="2000" dirty="0"/>
              </a:p>
              <a:p>
                <a:r>
                  <a:rPr lang="en-US" sz="2000" dirty="0"/>
                  <a:t>and also bucket by tenor and moneyness.</a:t>
                </a: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4E5134E-C679-2490-930C-9486851D35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blipFill>
                <a:blip r:embed="rId4"/>
                <a:stretch>
                  <a:fillRect l="-2121" t="-522" b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49B9D21-153E-79CD-83C4-7B7FC37A4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/>
              <a:t>8. Baseline: Sticky-volatility Black-Scholes</a:t>
            </a:r>
          </a:p>
        </p:txBody>
      </p:sp>
      <p:pic>
        <p:nvPicPr>
          <p:cNvPr id="9" name="Picture 8" descr="A close up of a text&#10;&#10;AI-generated content may be incorrect.">
            <a:extLst>
              <a:ext uri="{FF2B5EF4-FFF2-40B4-BE49-F238E27FC236}">
                <a16:creationId xmlns:a16="http://schemas.microsoft.com/office/drawing/2014/main" id="{05D2BD88-D6FF-0E42-DAC8-9153177CC3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1806" y="5112044"/>
            <a:ext cx="5289829" cy="92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96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F234-6CA7-2224-9BCF-958D033DF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66" y="-115847"/>
            <a:ext cx="11369068" cy="1002552"/>
          </a:xfrm>
        </p:spPr>
        <p:txBody>
          <a:bodyPr/>
          <a:lstStyle/>
          <a:p>
            <a:r>
              <a:rPr lang="en-US" sz="3600" dirty="0"/>
              <a:t>Delta hedging p&amp;l (results  with ASU hpc)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3A25D-3C76-3F55-4223-4E3C4486D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901C4086-C26C-B201-62F2-DE7340AF6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305" y="765313"/>
            <a:ext cx="8462513" cy="3766930"/>
          </a:xfrm>
          <a:prstGeom prst="rect">
            <a:avLst/>
          </a:prstGeom>
        </p:spPr>
      </p:pic>
      <p:pic>
        <p:nvPicPr>
          <p:cNvPr id="13" name="Picture 12" descr="A graph of a line graph&#10;&#10;AI-generated content may be incorrect.">
            <a:extLst>
              <a:ext uri="{FF2B5EF4-FFF2-40B4-BE49-F238E27FC236}">
                <a16:creationId xmlns:a16="http://schemas.microsoft.com/office/drawing/2014/main" id="{A7A32272-D75B-1702-73ED-E6F8423B0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305" y="3071542"/>
            <a:ext cx="8506383" cy="378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35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FA0E296-B57F-ABA2-8B8B-12675F0328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C341B-702E-617A-CD9F-4F2A58A68617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7CB447-A30E-23B8-65DC-DF294A77A7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4752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ol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15D1BB"/>
      </a:accent1>
      <a:accent2>
        <a:srgbClr val="0FB4DB"/>
      </a:accent2>
      <a:accent3>
        <a:srgbClr val="0D81BB"/>
      </a:accent3>
      <a:accent4>
        <a:srgbClr val="045FC4"/>
      </a:accent4>
      <a:accent5>
        <a:srgbClr val="953FF3"/>
      </a:accent5>
      <a:accent6>
        <a:srgbClr val="C03EF4"/>
      </a:accent6>
      <a:hlink>
        <a:srgbClr val="8F8F8F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our Title goes Here" id="{216E2A47-1B33-481B-B469-F891BA0BB112}" vid="{A834A686-415F-444B-99EF-70560C1C6F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</TotalTime>
  <Words>726</Words>
  <Application>Microsoft Macintosh PowerPoint</Application>
  <PresentationFormat>Widescreen</PresentationFormat>
  <Paragraphs>78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Sagona ExtraLight</vt:lpstr>
      <vt:lpstr>Speak Pro</vt:lpstr>
      <vt:lpstr>Office Theme</vt:lpstr>
      <vt:lpstr>Price with a Smile:  A Production-style Local Volatility Surface &amp; Backtest</vt:lpstr>
      <vt:lpstr>Project Overview</vt:lpstr>
      <vt:lpstr>1. Wake the market up (collect quotes)</vt:lpstr>
      <vt:lpstr>2. Ask the market what the forward is</vt:lpstr>
      <vt:lpstr>3. Speak the market’s language (implied vols)</vt:lpstr>
      <vt:lpstr>Implied volatility smiles</vt:lpstr>
      <vt:lpstr>5. Fit an arbitrage-free price surface</vt:lpstr>
      <vt:lpstr>6. Differentiate the surface (Dupire local volatility)</vt:lpstr>
      <vt:lpstr>7. Price under local volatility</vt:lpstr>
      <vt:lpstr>Pricing diagnostics</vt:lpstr>
      <vt:lpstr>Pricing diagnostics</vt:lpstr>
      <vt:lpstr>Model comparison</vt:lpstr>
      <vt:lpstr>Greeks' diagnostics</vt:lpstr>
      <vt:lpstr>8. Baseline: Sticky-volatility Black-Scholes</vt:lpstr>
      <vt:lpstr>Delta hedging p&amp;l (results  with ASU hpc)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Chitra Chopra</dc:creator>
  <cp:lastModifiedBy>Chitra Chopra</cp:lastModifiedBy>
  <cp:revision>3</cp:revision>
  <dcterms:created xsi:type="dcterms:W3CDTF">2025-11-07T22:18:56Z</dcterms:created>
  <dcterms:modified xsi:type="dcterms:W3CDTF">2025-11-08T04:02:01Z</dcterms:modified>
</cp:coreProperties>
</file>